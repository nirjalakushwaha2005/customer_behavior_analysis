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ora" pitchFamily="2" charset="0"/>
      <p:regular r:id="rId12"/>
      <p:bold r:id="rId13"/>
    </p:embeddedFon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1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30030"/>
            <a:ext cx="47625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906267"/>
            <a:ext cx="1524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4906267"/>
            <a:ext cx="15240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4906267"/>
            <a:ext cx="17145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765994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5A059"/>
                </a:solidFill>
                <a:latin typeface="Lora"/>
              </a:rPr>
              <a:t>END-TO-END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99369"/>
            <a:ext cx="8901112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sz="4050" b="0" i="0" u="none">
                <a:solidFill>
                  <a:srgbClr val="FAF8F5"/>
                </a:solidFill>
                <a:latin typeface="Lora"/>
              </a:rPr>
              <a:t>Customer Shopping Behavior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62350"/>
            <a:ext cx="6953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B0A89E"/>
                </a:solidFill>
                <a:latin typeface="Plus Jakarta Sans"/>
              </a:rPr>
              <a:t>Uncovering actionable revenue, loyalty, and promo insights across 3,900 customer transactions using Python, MySQL, and Power BI.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3175" y="4891980"/>
            <a:ext cx="371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3875" y="4891980"/>
            <a:ext cx="371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4901505"/>
            <a:ext cx="1631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DED8CE"/>
                </a:solidFill>
                <a:latin typeface="Plus Jakarta Sans"/>
              </a:rPr>
              <a:t>Python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5150" y="4901505"/>
            <a:ext cx="1285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DED8CE"/>
                </a:solidFill>
                <a:latin typeface="Plus Jakarta Sans"/>
              </a:rPr>
              <a:t>MySQL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4900" y="4901505"/>
            <a:ext cx="17502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DED8CE"/>
                </a:solidFill>
                <a:latin typeface="Plus Jakarta Sans"/>
              </a:rPr>
              <a:t>Power BI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866900"/>
            <a:ext cx="195069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41290" y="1866900"/>
            <a:ext cx="195069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20580" y="1866900"/>
            <a:ext cx="195069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299870" y="1866900"/>
            <a:ext cx="195069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479160" y="1866900"/>
            <a:ext cx="195069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609600"/>
            <a:ext cx="11430000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2C2520"/>
                </a:solidFill>
                <a:latin typeface="Lora"/>
              </a:rPr>
              <a:t>Data Preparation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81150"/>
            <a:ext cx="24383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7E72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076450"/>
            <a:ext cx="256028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Data Loading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09825"/>
            <a:ext cx="204594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Imported raw transaction dataset using pandas.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1290" y="1581150"/>
            <a:ext cx="24383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7E72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1290" y="2076450"/>
            <a:ext cx="256028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Initial Exploration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1290" y="2409825"/>
            <a:ext cx="204594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Structure check and summary statistics evaluation.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580" y="1581150"/>
            <a:ext cx="24383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7E72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580" y="2076450"/>
            <a:ext cx="214823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Missing Data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580" y="2647950"/>
            <a:ext cx="204594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Imputed Review Rating with category median values.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9870" y="1581150"/>
            <a:ext cx="24383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7E72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9870" y="2076450"/>
            <a:ext cx="256028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9870" y="2409825"/>
            <a:ext cx="204594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Created age groups and purchase frequency buckets.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9160" y="1581150"/>
            <a:ext cx="24383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7E72"/>
                </a:solidFill>
                <a:latin typeface="Plus Jakarta San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160" y="2076450"/>
            <a:ext cx="256028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Database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160" y="2409825"/>
            <a:ext cx="204594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Connected clean tables to MySQL for SQL querying.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0" y="2540198"/>
            <a:ext cx="5486400" cy="1390650"/>
          </a:xfrm>
          <a:prstGeom prst="roundRect">
            <a:avLst>
              <a:gd name="adj" fmla="val 8219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0" y="4121348"/>
            <a:ext cx="5486400" cy="1390650"/>
          </a:xfrm>
          <a:prstGeom prst="roundRect">
            <a:avLst>
              <a:gd name="adj" fmla="val 8219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029200" cy="2876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24250"/>
            <a:ext cx="5029200" cy="2876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0" y="1345852"/>
            <a:ext cx="6096000" cy="4799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0" i="0" u="none">
                <a:solidFill>
                  <a:srgbClr val="2C2520"/>
                </a:solidFill>
                <a:latin typeface="Lora"/>
              </a:rPr>
              <a:t>High-Value Discount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978223"/>
            <a:ext cx="60960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Customers utilizing discounts while spending above average.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06898"/>
            <a:ext cx="5791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C2520"/>
                </a:solidFill>
                <a:latin typeface="Lora"/>
              </a:rPr>
              <a:t>Smart Shoppers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149798"/>
            <a:ext cx="49720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High spenders who maximize value with discount promotions.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88048"/>
            <a:ext cx="5791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C2520"/>
                </a:solidFill>
                <a:latin typeface="Lora"/>
              </a:rPr>
              <a:t>Strategic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730948"/>
            <a:ext cx="49720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Target premium customers with exclusive tailored loyalty offers.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10972800" cy="2095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29025"/>
            <a:ext cx="1905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629025"/>
            <a:ext cx="19050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629025"/>
            <a:ext cx="1905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3629025"/>
            <a:ext cx="1905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629025"/>
            <a:ext cx="1905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849" y="3629025"/>
            <a:ext cx="1905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349" y="3629025"/>
            <a:ext cx="1905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849" y="3629025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349" y="3629025"/>
            <a:ext cx="1905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49" y="3629025"/>
            <a:ext cx="1905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3629025"/>
            <a:ext cx="1905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599" y="3629025"/>
            <a:ext cx="1905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99" y="3629025"/>
            <a:ext cx="1905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99" y="3629025"/>
            <a:ext cx="1905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99" y="3629025"/>
            <a:ext cx="19050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285750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2C2520"/>
                </a:solidFill>
                <a:latin typeface="Lora"/>
              </a:rPr>
              <a:t>Top-Rated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895725"/>
            <a:ext cx="45339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C2520"/>
                </a:solidFill>
                <a:latin typeface="Lora"/>
              </a:rPr>
              <a:t>Blouse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248150"/>
            <a:ext cx="354969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4E47"/>
                </a:solidFill>
                <a:latin typeface="Plus Jakarta Sans"/>
              </a:rPr>
              <a:t>Highest customer satisfaction rating across categories.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849" y="3895725"/>
            <a:ext cx="453396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C2520"/>
                </a:solidFill>
                <a:latin typeface="Lora"/>
              </a:rPr>
              <a:t>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8849" y="4248150"/>
            <a:ext cx="354969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4E47"/>
                </a:solidFill>
                <a:latin typeface="Plus Jakarta Sans"/>
              </a:rPr>
              <a:t>Consistently excellent customer review feedback.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99" y="3895725"/>
            <a:ext cx="40639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C2520"/>
                </a:solidFill>
                <a:latin typeface="Lora"/>
              </a:rPr>
              <a:t>Shirt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99" y="4248150"/>
            <a:ext cx="354969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4E47"/>
                </a:solidFill>
                <a:latin typeface="Plus Jakarta Sans"/>
              </a:rPr>
              <a:t>Strong customer approval and high repeat sales volume.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6400" y="3581400"/>
            <a:ext cx="3905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5649" y="3581400"/>
            <a:ext cx="3905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899" y="3581400"/>
            <a:ext cx="3905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22764" y="2762250"/>
            <a:ext cx="5507235" cy="1000125"/>
          </a:xfrm>
          <a:prstGeom prst="roundRect">
            <a:avLst>
              <a:gd name="adj" fmla="val 11428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22764" y="3990975"/>
            <a:ext cx="5507235" cy="1000125"/>
          </a:xfrm>
          <a:prstGeom prst="roundRect">
            <a:avLst>
              <a:gd name="adj" fmla="val 11428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89464" y="30670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89464" y="42957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7A6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382" y="2638425"/>
            <a:ext cx="2476500" cy="2476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09600"/>
            <a:ext cx="11430000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2C2520"/>
                </a:solidFill>
                <a:latin typeface="Lora"/>
              </a:rPr>
              <a:t>Revenue by Gender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8064" y="3314700"/>
            <a:ext cx="57739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4E47"/>
                </a:solidFill>
                <a:latin typeface="Plus Jakarta Sans"/>
              </a:rPr>
              <a:t>Generating $157.9K total transaction volume.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8064" y="4543425"/>
            <a:ext cx="57739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4E47"/>
                </a:solidFill>
                <a:latin typeface="Plus Jakarta Sans"/>
              </a:rPr>
              <a:t>Generating $75.1K across core retail categories.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8064" y="2990850"/>
            <a:ext cx="330041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C2520"/>
                </a:solidFill>
                <a:latin typeface="Lora"/>
              </a:rPr>
              <a:t>Male Category Lead: 68%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8064" y="4219575"/>
            <a:ext cx="366295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C2520"/>
                </a:solidFill>
                <a:latin typeface="Lora"/>
              </a:rPr>
              <a:t>Female Segment Share: 32%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00" y="2614612"/>
            <a:ext cx="1714500" cy="1714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2614612"/>
            <a:ext cx="17145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1799" y="2614612"/>
            <a:ext cx="1714500" cy="1714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09600"/>
            <a:ext cx="11430000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2C2520"/>
                </a:solidFill>
                <a:latin typeface="Lora"/>
              </a:rPr>
              <a:t>Subscription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2837" y="4519612"/>
            <a:ext cx="18002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2C2520"/>
                </a:solidFill>
                <a:latin typeface="Lora"/>
              </a:rPr>
              <a:t>Higher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419" y="4843462"/>
            <a:ext cx="31670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74E47"/>
                </a:solidFill>
                <a:latin typeface="Plus Jakarta Sans"/>
              </a:rPr>
              <a:t>Subscribers vs non-subscribers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878" y="4519612"/>
            <a:ext cx="195024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2C2520"/>
                </a:solidFill>
                <a:latin typeface="Lora"/>
              </a:rPr>
              <a:t>Revenue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1531" y="4843462"/>
            <a:ext cx="2928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74E47"/>
                </a:solidFill>
                <a:latin typeface="Plus Jakarta Sans"/>
              </a:rPr>
              <a:t>From subscription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6448" y="4519612"/>
            <a:ext cx="162520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2C2520"/>
                </a:solidFill>
                <a:latin typeface="Lora"/>
              </a:rPr>
              <a:t>Loyalty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0065" y="4843462"/>
            <a:ext cx="27979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74E47"/>
                </a:solidFill>
                <a:latin typeface="Plus Jakarta Sans"/>
              </a:rPr>
              <a:t>Repeat purchase frequency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2412" y="3252787"/>
            <a:ext cx="981075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2C2520"/>
                </a:solidFill>
                <a:latin typeface="Lora"/>
              </a:rPr>
              <a:t>68%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0225" y="3252787"/>
            <a:ext cx="97155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2C2520"/>
                </a:solidFill>
                <a:latin typeface="Lora"/>
              </a:rP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7562" y="3252787"/>
            <a:ext cx="942975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2C2520"/>
                </a:solidFill>
                <a:latin typeface="Lora"/>
              </a:rPr>
              <a:t>78%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74705" y="3043237"/>
            <a:ext cx="4883794" cy="9525"/>
          </a:xfrm>
          <a:prstGeom prst="rect">
            <a:avLst/>
          </a:prstGeom>
          <a:solidFill>
            <a:srgbClr val="E8D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74705" y="4214812"/>
            <a:ext cx="4883794" cy="9525"/>
          </a:xfrm>
          <a:prstGeom prst="rect">
            <a:avLst/>
          </a:prstGeom>
          <a:solidFill>
            <a:srgbClr val="E8D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778" y="2300287"/>
            <a:ext cx="3429000" cy="266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33400"/>
            <a:ext cx="11430000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2C2520"/>
                </a:solidFill>
                <a:latin typeface="Lora"/>
              </a:rPr>
              <a:t>Customer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85750" y="6105525"/>
            <a:ext cx="12763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73685F"/>
                </a:solidFill>
                <a:latin typeface="Plus Jakarta Sans"/>
              </a:rPr>
              <a:t>Focus on converting New to Returning, Returning to Loyal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4705" y="2185987"/>
            <a:ext cx="621729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C2520"/>
                </a:solidFill>
                <a:latin typeface="Lora"/>
              </a:rPr>
              <a:t>Loyal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4705" y="2519362"/>
            <a:ext cx="61047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4E47"/>
                </a:solidFill>
                <a:latin typeface="Plus Jakarta Sans"/>
              </a:rPr>
              <a:t>15% — High value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4705" y="3357562"/>
            <a:ext cx="621729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C2520"/>
                </a:solidFill>
                <a:latin typeface="Lora"/>
              </a:rPr>
              <a:t>Returning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4705" y="3690937"/>
            <a:ext cx="61047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4E47"/>
                </a:solidFill>
                <a:latin typeface="Plus Jakarta Sans"/>
              </a:rPr>
              <a:t>35% — Regular shoppers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4705" y="4529137"/>
            <a:ext cx="621729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C2520"/>
                </a:solidFill>
                <a:latin typeface="Lora"/>
              </a:rPr>
              <a:t>New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4705" y="4862512"/>
            <a:ext cx="61047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4E47"/>
                </a:solidFill>
                <a:latin typeface="Plus Jakarta Sans"/>
              </a:rPr>
              <a:t>50% — First-time buyers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00337"/>
            <a:ext cx="3565028" cy="2352675"/>
          </a:xfrm>
          <a:prstGeom prst="roundRect">
            <a:avLst>
              <a:gd name="adj" fmla="val 4858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84228" y="2700337"/>
            <a:ext cx="3565028" cy="2352675"/>
          </a:xfrm>
          <a:prstGeom prst="roundRect">
            <a:avLst>
              <a:gd name="adj" fmla="val 4858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30" y="3057525"/>
            <a:ext cx="5715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09600"/>
            <a:ext cx="11430000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2C2520"/>
                </a:solidFill>
                <a:latin typeface="Lora"/>
              </a:rPr>
              <a:t>Shipping Preferences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81337"/>
            <a:ext cx="350378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3685F"/>
                </a:solidFill>
                <a:latin typeface="Plus Jakarta Sans"/>
              </a:rPr>
              <a:t>Express Shipping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38512"/>
            <a:ext cx="3503786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2C2520"/>
                </a:solidFill>
                <a:latin typeface="Lora"/>
              </a:rPr>
              <a:t>$65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233862"/>
            <a:ext cx="289827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4E47"/>
                </a:solidFill>
                <a:latin typeface="Plus Jakarta Sans"/>
              </a:rPr>
              <a:t>Average cart value for expedited orders.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5228" y="3081337"/>
            <a:ext cx="350378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3685F"/>
                </a:solidFill>
                <a:latin typeface="Plus Jakarta Sans"/>
              </a:rPr>
              <a:t>Standard Shipping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5228" y="3338512"/>
            <a:ext cx="3503786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2C2520"/>
                </a:solidFill>
                <a:latin typeface="Lora"/>
              </a:rPr>
              <a:t>$58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5228" y="4233862"/>
            <a:ext cx="289827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4E47"/>
                </a:solidFill>
                <a:latin typeface="Plus Jakarta Sans"/>
              </a:rPr>
              <a:t>Average cart value for standard delivery.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6658" y="3667125"/>
            <a:ext cx="2802991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Minimal spend variation between shipping choices indicates price inelasticity on speed.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09887"/>
            <a:ext cx="2495550" cy="2190750"/>
          </a:xfrm>
          <a:prstGeom prst="roundRect">
            <a:avLst>
              <a:gd name="adj" fmla="val 5217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86150" y="2909887"/>
            <a:ext cx="2495550" cy="2190750"/>
          </a:xfrm>
          <a:prstGeom prst="roundRect">
            <a:avLst>
              <a:gd name="adj" fmla="val 5217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909887"/>
            <a:ext cx="2495550" cy="2190750"/>
          </a:xfrm>
          <a:prstGeom prst="roundRect">
            <a:avLst>
              <a:gd name="adj" fmla="val 5217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34450" y="2909887"/>
            <a:ext cx="2495550" cy="2190750"/>
          </a:xfrm>
          <a:prstGeom prst="roundRect">
            <a:avLst>
              <a:gd name="adj" fmla="val 5217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271837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0" y="3271837"/>
            <a:ext cx="1714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3271837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1150" y="3271837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2C2520"/>
                </a:solidFill>
                <a:latin typeface="Lora"/>
              </a:rPr>
              <a:t>Payment Method Preferences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20015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4E47"/>
                </a:solidFill>
                <a:latin typeface="Plus Jakarta Sans"/>
              </a:rPr>
              <a:t>Distribution of preferred checkout channels across customer transactions.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709987"/>
            <a:ext cx="25753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Credit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024312"/>
            <a:ext cx="20574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Highest average order value ($68) across all checkout methods.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2850" y="3709987"/>
            <a:ext cx="25753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Digital Wallet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2850" y="4024312"/>
            <a:ext cx="20574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Preferred method for younger shoppers aged 18–35.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709987"/>
            <a:ext cx="25753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Venmo / 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024312"/>
            <a:ext cx="20574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Steady repeat transaction volume from subscription members.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1150" y="3709987"/>
            <a:ext cx="25753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Cash &amp; Other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1150" y="4024312"/>
            <a:ext cx="20574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In-store pickups and traditional payment processing.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7925" y="3214687"/>
            <a:ext cx="82867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C2520"/>
                </a:solidFill>
                <a:latin typeface="Lora"/>
              </a:rPr>
              <a:t>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600" y="3214687"/>
            <a:ext cx="8191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C2520"/>
                </a:solidFill>
                <a:latin typeface="Lora"/>
              </a:rPr>
              <a:t>28%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3375" y="3214687"/>
            <a:ext cx="7715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C2520"/>
                </a:solidFill>
                <a:latin typeface="Lora"/>
              </a:rPr>
              <a:t>21%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77525" y="3214687"/>
            <a:ext cx="7715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C2520"/>
                </a:solidFill>
                <a:latin typeface="Lora"/>
              </a:rPr>
              <a:t>15%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057525"/>
            <a:ext cx="2495550" cy="1638300"/>
          </a:xfrm>
          <a:prstGeom prst="roundRect">
            <a:avLst>
              <a:gd name="adj" fmla="val 6976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86150" y="3057525"/>
            <a:ext cx="2495550" cy="1638300"/>
          </a:xfrm>
          <a:prstGeom prst="roundRect">
            <a:avLst>
              <a:gd name="adj" fmla="val 6976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928937"/>
            <a:ext cx="2495550" cy="1895475"/>
          </a:xfrm>
          <a:prstGeom prst="roundRect">
            <a:avLst>
              <a:gd name="adj" fmla="val 6030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34450" y="3057525"/>
            <a:ext cx="2495550" cy="1638300"/>
          </a:xfrm>
          <a:prstGeom prst="roundRect">
            <a:avLst>
              <a:gd name="adj" fmla="val 6976"/>
            </a:avLst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2C2520"/>
                </a:solidFill>
                <a:latin typeface="Lora"/>
              </a:rPr>
              <a:t>Strategic Action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3324225"/>
            <a:ext cx="25753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Subscription 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657600"/>
            <a:ext cx="20574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Convert repeat buyers with exclusive perks to grow subscriber 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2850" y="3324225"/>
            <a:ext cx="25753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Targeted Promo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2850" y="3657600"/>
            <a:ext cx="20574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Replace storewide discounts with personalized VIP offers.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195637"/>
            <a:ext cx="25753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Demographic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529012"/>
            <a:ext cx="20574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Tailor top apparel campaigns toward highest spending age cohorts.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1150" y="3324225"/>
            <a:ext cx="25753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C2520"/>
                </a:solidFill>
                <a:latin typeface="Lora"/>
              </a:rPr>
              <a:t>Express Shipping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1150" y="3657600"/>
            <a:ext cx="20574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74E47"/>
                </a:solidFill>
                <a:latin typeface="Plus Jakarta Sans"/>
              </a:rPr>
              <a:t>Bundle express shipping benefits into top loyalty tiers.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396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Lora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Nirjala Kushwaha</dc:creator>
  <cp:keywords/>
  <dc:description>generated using python-pptx</dc:description>
  <cp:lastModifiedBy>nirjalakushwaha62@gmail.com</cp:lastModifiedBy>
  <cp:revision>2</cp:revision>
  <dcterms:created xsi:type="dcterms:W3CDTF">2013-01-27T09:14:16Z</dcterms:created>
  <dcterms:modified xsi:type="dcterms:W3CDTF">2026-10-05T12:49:25Z</dcterms:modified>
  <cp:category/>
</cp:coreProperties>
</file>